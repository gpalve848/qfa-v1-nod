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2344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2341"/>
                </a:solidFill>
                <a:latin typeface="Aptos Display"/>
              </a:defRPr>
            </a:pPr>
            <a:r>
              <a:t>Design and Development of a Lightweight Runtime Quality Assessment Framework for Cloud-Native Microservice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10241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864BE"/>
                </a:solidFill>
                <a:latin typeface="Aptos"/>
              </a:defRPr>
            </a:pPr>
            <a:r>
              <a:t>S1-26_SEZG628T – Dissertation</a:t>
            </a:r>
          </a:p>
          <a:p>
            <a:pPr>
              <a:spcAft>
                <a:spcPts val="700"/>
              </a:spcAft>
              <a:defRPr sz="1300" b="0">
                <a:solidFill>
                  <a:srgbClr val="1E2328"/>
                </a:solidFill>
                <a:latin typeface="Aptos"/>
              </a:defRPr>
            </a:pPr>
            <a:r>
              <a:t>Student: Ganesh Ambadas Palve  |  BITS ID: 2024TM93686</a:t>
            </a:r>
          </a:p>
          <a:p>
            <a:pPr>
              <a:spcAft>
                <a:spcPts val="700"/>
              </a:spcAft>
              <a:defRPr sz="1300" b="0">
                <a:solidFill>
                  <a:srgbClr val="1E2328"/>
                </a:solidFill>
                <a:latin typeface="Aptos"/>
              </a:defRPr>
            </a:pPr>
            <a:r>
              <a:t>M.Tech in Software Engineering</a:t>
            </a:r>
          </a:p>
          <a:p>
            <a:pPr>
              <a:spcAft>
                <a:spcPts val="700"/>
              </a:spcAft>
              <a:defRPr sz="1300" b="0">
                <a:solidFill>
                  <a:srgbClr val="1E2328"/>
                </a:solidFill>
                <a:latin typeface="Aptos"/>
              </a:defRPr>
            </a:pPr>
            <a:r>
              <a:t>Research Area: Software Architecture &amp; Runtime Quality Assessment</a:t>
            </a:r>
          </a:p>
          <a:p>
            <a:pPr>
              <a:spcAft>
                <a:spcPts val="700"/>
              </a:spcAft>
              <a:defRPr sz="1200" b="0">
                <a:solidFill>
                  <a:srgbClr val="5C6674"/>
                </a:solidFill>
                <a:latin typeface="Aptos"/>
              </a:defRPr>
            </a:pPr>
            <a:r>
              <a:t>Supervisor: Ajay Singh (Bajaj Finserv Pune)</a:t>
            </a:r>
          </a:p>
          <a:p>
            <a:pPr>
              <a:spcAft>
                <a:spcPts val="700"/>
              </a:spcAft>
              <a:defRPr sz="1200" b="0">
                <a:solidFill>
                  <a:srgbClr val="5C6674"/>
                </a:solidFill>
                <a:latin typeface="Aptos"/>
              </a:defRPr>
            </a:pPr>
            <a:r>
              <a:t>Additional Examiner: Masawwar Ali (Bajaj Finserv Pune)</a:t>
            </a:r>
          </a:p>
          <a:p>
            <a:pPr>
              <a:spcAft>
                <a:spcPts val="700"/>
              </a:spcAft>
              <a:defRPr sz="1200" b="0">
                <a:solidFill>
                  <a:srgbClr val="5C6674"/>
                </a:solidFill>
                <a:latin typeface="Aptos"/>
              </a:defRPr>
            </a:pPr>
            <a:r>
              <a:t>Work carried out at: Bajaj Finserv, Pune  |  BITS Pilani, WILP</a:t>
            </a:r>
          </a:p>
          <a:p>
            <a:pPr>
              <a:spcAft>
                <a:spcPts val="700"/>
              </a:spcAft>
              <a:defRPr sz="1200" b="0">
                <a:solidFill>
                  <a:srgbClr val="5C6674"/>
                </a:solidFill>
                <a:latin typeface="Aptos"/>
              </a:defRPr>
            </a:pPr>
            <a:r>
              <a:t>Academic Year: 2024–2025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 Box 6"/>
          <p:cNvSpPr txBox="1"/>
          <p:nvPr/>
        </p:nvSpPr>
        <p:spPr>
          <a:xfrm>
            <a:off x="1966595" y="250190"/>
            <a:ext cx="8499475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900" b="1">
                <a:solidFill>
                  <a:srgbClr val="142341"/>
                </a:solidFill>
                <a:latin typeface="Aptos Display"/>
              </a:rPr>
              <a:t>Runtime Quality Assessment Framework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Broad Area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Cloud-native systems generate rich runtime telemetry — but interpretation remains fragmented.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337560" cy="4526280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Broad Area</a:t>
            </a:r>
          </a:p>
          <a:p>
            <a:pPr>
              <a:spcBef>
                <a:spcPts val="500"/>
              </a:spcBef>
              <a:defRPr sz="1300">
                <a:solidFill>
                  <a:srgbClr val="1E2328"/>
                </a:solidFill>
                <a:latin typeface="Aptos"/>
              </a:defRPr>
            </a:pPr>
            <a:r>
              <a:t>• Cloud-native software engineering</a:t>
            </a:r>
            <a:br/>
            <a:r>
              <a:t>• Microservice architecture</a:t>
            </a:r>
            <a:br/>
            <a:r>
              <a:t>• Observability, monitoring &amp; telemetry</a:t>
            </a:r>
            <a:br/>
            <a:r>
              <a:t>• Runtime software quality assessment</a:t>
            </a:r>
            <a:br/>
            <a:r>
              <a:t>• Composite metric indexing</a:t>
            </a:r>
            <a:br/>
            <a:r>
              <a:t>• AHP / Entropy Weight Method</a:t>
            </a:r>
            <a:br/>
            <a:r>
              <a:t>• DevOps / SRE practices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234440"/>
            <a:ext cx="7498079" cy="4526280"/>
          </a:xfrm>
          <a:prstGeom prst="roundRect">
            <a:avLst/>
          </a:prstGeom>
          <a:solidFill>
            <a:srgbClr val="F8FAFD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Background</a:t>
            </a:r>
          </a:p>
          <a:p>
            <a:pPr>
              <a:spcBef>
                <a:spcPts val="500"/>
              </a:spcBef>
              <a:defRPr sz="1400">
                <a:solidFill>
                  <a:srgbClr val="1E2328"/>
                </a:solidFill>
                <a:latin typeface="Aptos"/>
              </a:defRPr>
            </a:pPr>
            <a:r>
              <a:t>• Monolithic applications are increasingly re-architected into independently deployable microservices for agility and scalability.</a:t>
            </a:r>
            <a:br/>
            <a:br/>
            <a:r>
              <a:t>• Prometheus/Grafana-style observability stacks collect large volumes of runtime data: CPU, memory, response time, latency, error rate, availability and throughput.</a:t>
            </a:r>
            <a:br/>
            <a:br/>
            <a:r>
              <a:t>• The monitoring stack is effective at collecting, visualizing and alerting on individual metrics.</a:t>
            </a:r>
            <a:br/>
            <a:br/>
            <a:r>
              <a:t>• However, metrics are typically viewed in isolation across multiple dashboards, leaving engineers to manually infer overall system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Monitoring tells us what happened; it does not provide a unified quality judgment.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246120" cy="4434840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What existing platforms do well</a:t>
            </a:r>
          </a:p>
          <a:p>
            <a:pPr>
              <a:spcBef>
                <a:spcPts val="500"/>
              </a:spcBef>
              <a:defRPr sz="1400">
                <a:solidFill>
                  <a:srgbClr val="1E2328"/>
                </a:solidFill>
                <a:latin typeface="Aptos"/>
              </a:defRPr>
            </a:pPr>
            <a:r>
              <a:t>✓ Collect runtime metrics</a:t>
            </a:r>
            <a:br/>
            <a:r>
              <a:t>✓ Visualize dashboards</a:t>
            </a:r>
            <a:br/>
            <a:r>
              <a:t>✓ Set thresholds &amp; alerts</a:t>
            </a:r>
            <a:br/>
            <a:r>
              <a:t>✓ Support logs / traces / metrics</a:t>
            </a:r>
            <a:br/>
            <a:r>
              <a:t>✓ Enable operational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34440"/>
            <a:ext cx="7269480" cy="4434840"/>
          </a:xfrm>
          <a:prstGeom prst="roundRect">
            <a:avLst/>
          </a:prstGeom>
          <a:solidFill>
            <a:srgbClr val="FFF7E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DC872D"/>
                </a:solidFill>
                <a:latin typeface="Aptos"/>
              </a:defRPr>
            </a:pPr>
            <a:r>
              <a:t>What remains unanswered</a:t>
            </a:r>
          </a:p>
          <a:p>
            <a:pPr>
              <a:spcBef>
                <a:spcPts val="500"/>
              </a:spcBef>
              <a:defRPr sz="1400">
                <a:solidFill>
                  <a:srgbClr val="1E2328"/>
                </a:solidFill>
                <a:latin typeface="Aptos"/>
              </a:defRPr>
            </a:pPr>
            <a:r>
              <a:t>? Is the system healthy overall — as a single judgment?</a:t>
            </a:r>
            <a:br/>
            <a:r>
              <a:t>? Is quality improving or degrading across releases?</a:t>
            </a:r>
            <a:br/>
            <a:r>
              <a:t>? Which microservice contributes most to degradation?</a:t>
            </a:r>
            <a:br/>
            <a:r>
              <a:t>? Can two deployments or versions be objectively compared?</a:t>
            </a:r>
            <a:br/>
            <a:br/>
            <a:r>
              <a:t>Result: developers and operators perform manual, dashboard-hopping interpretation. The absence of a single composite indicator makes cross-service and cross-release quality comparison subjective.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Research Gap &amp; 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From isolated telemetry to an interpretable runtime Quality Index.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03520" cy="4526280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Research Gap</a:t>
            </a:r>
          </a:p>
          <a:p>
            <a:pPr>
              <a:spcBef>
                <a:spcPts val="500"/>
              </a:spcBef>
              <a:defRPr sz="1350">
                <a:solidFill>
                  <a:srgbClr val="1E2328"/>
                </a:solidFill>
                <a:latin typeface="Aptos"/>
              </a:defRPr>
            </a:pPr>
            <a:r>
              <a:t>• Literature strongly covers monitoring, observability, logging and distributed tracing.</a:t>
            </a:r>
            <a:br/>
            <a:br/>
            <a:r>
              <a:t>• Design-time software quality research often emphasizes structural properties such as coupling and cohesion.</a:t>
            </a:r>
            <a:br/>
            <a:br/>
            <a:r>
              <a:t>• There is comparatively limited work on a lightweight runtime framework that:</a:t>
            </a:r>
            <a:br/>
            <a:r>
              <a:t>  1. combines multiple quality attributes,</a:t>
            </a:r>
            <a:br/>
            <a:r>
              <a:t>  2. uses measurable runtime metrics,</a:t>
            </a:r>
            <a:br/>
            <a:r>
              <a:t>  3. assigns principled weights, and</a:t>
            </a:r>
            <a:br/>
            <a:r>
              <a:t>  4. produces one interpretable composite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57800" cy="4526280"/>
          </a:xfrm>
          <a:prstGeom prst="roundRect">
            <a:avLst/>
          </a:prstGeom>
          <a:solidFill>
            <a:srgbClr val="EFF8F4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3E965F"/>
                </a:solidFill>
                <a:latin typeface="Aptos"/>
              </a:defRPr>
            </a:pPr>
            <a:r>
              <a:t>Research Aim</a:t>
            </a:r>
          </a:p>
          <a:p>
            <a:pPr>
              <a:spcBef>
                <a:spcPts val="500"/>
              </a:spcBef>
              <a:defRPr sz="1400">
                <a:solidFill>
                  <a:srgbClr val="1E2328"/>
                </a:solidFill>
                <a:latin typeface="Aptos"/>
              </a:defRPr>
            </a:pPr>
            <a:r>
              <a:t>Develop a lightweight framework that evaluates the runtime quality of cloud-native microservices using multiple runtime metrics and computes a unified Quality Index (QI).</a:t>
            </a:r>
            <a:br/>
            <a:br/>
            <a:r>
              <a:t>The QI should support:</a:t>
            </a:r>
            <a:br/>
            <a:r>
              <a:t>• Overall health assessment</a:t>
            </a:r>
            <a:br/>
            <a:r>
              <a:t>• Cross-service comparison</a:t>
            </a:r>
            <a:br/>
            <a:r>
              <a:t>• Release / deployment comparison</a:t>
            </a:r>
            <a:br/>
            <a:r>
              <a:t>• Detection of degradation</a:t>
            </a:r>
            <a:br/>
            <a:r>
              <a:t>• Actionable operational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Six objectives connect literature review, framework design, implementation and empirical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57800" cy="1261872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142341"/>
                </a:solidFill>
                <a:latin typeface="Aptos"/>
              </a:defRPr>
            </a:pPr>
            <a:r>
              <a:t>1. Study runtime quality attributes relevant to cloud-native microservices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257800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142341"/>
                </a:solidFill>
                <a:latin typeface="Aptos"/>
              </a:defRPr>
            </a:pPr>
            <a:r>
              <a:t>2. Identify and select measurable runtime metrics collected via Prometheus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5257800" cy="1261872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142341"/>
                </a:solidFill>
                <a:latin typeface="Aptos"/>
              </a:defRPr>
            </a:pPr>
            <a:r>
              <a:t>3. Design a lightweight QAF with collection, preprocessing and analysis/indexing layers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834640"/>
            <a:ext cx="5257800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142341"/>
                </a:solidFill>
                <a:latin typeface="Aptos"/>
              </a:defRPr>
            </a:pPr>
            <a:r>
              <a:t>4. Develop a QI model aggregating Performance, Reliability, Availability, Efficiency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5257800" cy="1261872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142341"/>
                </a:solidFill>
                <a:latin typeface="Aptos"/>
              </a:defRPr>
            </a:pPr>
            <a:r>
              <a:t>5. Implement the framework on User, Product, Order and Payment microservices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434840"/>
            <a:ext cx="5257800" cy="1261872"/>
          </a:xfrm>
          <a:prstGeom prst="roundRect">
            <a:avLst/>
          </a:prstGeom>
          <a:solidFill>
            <a:srgbClr val="F6F8FB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142341"/>
                </a:solidFill>
                <a:latin typeface="Aptos"/>
              </a:defRPr>
            </a:pPr>
            <a:r>
              <a:t>6. Validate under low / medium / peak / failure workloads and compare with dashboard-based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Proposed Framework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End-to-end flow from microservice telemetry to quality classification and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920240" cy="960120"/>
          </a:xfrm>
          <a:prstGeom prst="roundRect">
            <a:avLst/>
          </a:prstGeom>
          <a:solidFill>
            <a:srgbClr val="E8F1FC"/>
          </a:solidFill>
          <a:ln>
            <a:solidFill>
              <a:srgbClr val="28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41"/>
                </a:solidFill>
                <a:latin typeface="Aptos"/>
              </a:defRPr>
            </a:pPr>
            <a:r>
              <a:t>Microservices</a:t>
            </a:r>
            <a:br/>
            <a:r>
              <a:t>User • Product</a:t>
            </a:r>
            <a:br/>
            <a:r>
              <a:t>Order • Payment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17320"/>
            <a:ext cx="1965960" cy="960120"/>
          </a:xfrm>
          <a:prstGeom prst="roundRect">
            <a:avLst/>
          </a:prstGeom>
          <a:solidFill>
            <a:srgbClr val="EFF8F4"/>
          </a:solidFill>
          <a:ln>
            <a:solidFill>
              <a:srgbClr val="28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E965F"/>
                </a:solidFill>
                <a:latin typeface="Aptos"/>
              </a:defRPr>
            </a:pPr>
            <a:r>
              <a:t>Runtime Metrics</a:t>
            </a:r>
            <a:br/>
            <a:r>
              <a:t>CPU • Memory</a:t>
            </a:r>
            <a:br/>
            <a:r>
              <a:t>RT • Errors • Throughput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1828800" cy="960120"/>
          </a:xfrm>
          <a:prstGeom prst="roundRect">
            <a:avLst/>
          </a:prstGeom>
          <a:solidFill>
            <a:srgbClr val="F5F7FB"/>
          </a:solidFill>
          <a:ln>
            <a:solidFill>
              <a:srgbClr val="28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41"/>
                </a:solidFill>
                <a:latin typeface="Aptos"/>
              </a:defRPr>
            </a:pPr>
            <a:r>
              <a:t>Metric Collection</a:t>
            </a:r>
            <a:br/>
            <a:r>
              <a:t>Prometheus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143000"/>
            <a:ext cx="3566160" cy="1508760"/>
          </a:xfrm>
          <a:prstGeom prst="roundRect">
            <a:avLst/>
          </a:prstGeom>
          <a:solidFill>
            <a:srgbClr val="FFF7EF"/>
          </a:solidFill>
          <a:ln>
            <a:solidFill>
              <a:srgbClr val="28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872D"/>
                </a:solidFill>
                <a:latin typeface="Aptos"/>
              </a:defRPr>
            </a:pPr>
            <a:r>
              <a:t>Runtime Quality Framework</a:t>
            </a:r>
            <a:br/>
            <a:r>
              <a:t>Normalization → Weight Assignment</a:t>
            </a:r>
            <a:br/>
            <a:r>
              <a:t>QI Calculator → Classification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901952"/>
            <a:ext cx="365760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46320" y="1901952"/>
            <a:ext cx="411480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1901952"/>
            <a:ext cx="365760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3840480"/>
            <a:ext cx="1965960" cy="914400"/>
          </a:xfrm>
          <a:prstGeom prst="roundRect">
            <a:avLst/>
          </a:prstGeom>
          <a:solidFill>
            <a:srgbClr val="E8F1FC"/>
          </a:solidFill>
          <a:ln>
            <a:solidFill>
              <a:srgbClr val="28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41"/>
                </a:solidFill>
                <a:latin typeface="Aptos"/>
              </a:defRPr>
            </a:pPr>
            <a:r>
              <a:t>Quality Index (QI)</a:t>
            </a:r>
            <a:br/>
            <a:r>
              <a:t>0–100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2194560" cy="914400"/>
          </a:xfrm>
          <a:prstGeom prst="roundRect">
            <a:avLst/>
          </a:prstGeom>
          <a:solidFill>
            <a:srgbClr val="EFF8F4"/>
          </a:solidFill>
          <a:ln>
            <a:solidFill>
              <a:srgbClr val="28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E965F"/>
                </a:solidFill>
                <a:latin typeface="Aptos"/>
              </a:defRPr>
            </a:pPr>
            <a:r>
              <a:t>Classification</a:t>
            </a:r>
            <a:br/>
            <a:r>
              <a:t>Excellent → 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840480"/>
            <a:ext cx="205740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28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41"/>
                </a:solidFill>
                <a:latin typeface="Aptos"/>
              </a:defRPr>
            </a:pPr>
            <a:r>
              <a:t>Dashboard / Report</a:t>
            </a:r>
            <a:br/>
            <a:r>
              <a:t>&amp; Recommendations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663440" y="2651760"/>
            <a:ext cx="4572000" cy="118872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23560" y="4297680"/>
            <a:ext cx="777240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" y="4297680"/>
            <a:ext cx="548640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3492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C6674"/>
                </a:solidFill>
                <a:latin typeface="Aptos"/>
              </a:defRPr>
            </a:pPr>
            <a:r>
              <a:t>Design principle: lightweight processing over existing observability infrastructure rather than replacing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Quality Dimensions, QI Formula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Indicative weighting will be refined using AHP / Entropy Weight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2103120" cy="530352"/>
          </a:xfrm>
          <a:prstGeom prst="rect">
            <a:avLst/>
          </a:prstGeom>
          <a:solidFill>
            <a:srgbClr val="142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79" y="1188720"/>
            <a:ext cx="4663440" cy="530352"/>
          </a:xfrm>
          <a:prstGeom prst="rect">
            <a:avLst/>
          </a:prstGeom>
          <a:solidFill>
            <a:srgbClr val="142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19" y="1188720"/>
            <a:ext cx="1828800" cy="530352"/>
          </a:xfrm>
          <a:prstGeom prst="rect">
            <a:avLst/>
          </a:prstGeom>
          <a:solidFill>
            <a:srgbClr val="1423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Indicative 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19072"/>
            <a:ext cx="210312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719072"/>
            <a:ext cx="466344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Response Time, Throughput,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19" y="1719072"/>
            <a:ext cx="182880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2286000"/>
            <a:ext cx="4663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Failure Rate, Recovery Time, Error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19" y="228600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852928"/>
            <a:ext cx="210312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79" y="2852928"/>
            <a:ext cx="466344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Uptime, Service 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2852928"/>
            <a:ext cx="182880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419856"/>
            <a:ext cx="2103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Resource Efficiency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79" y="3419856"/>
            <a:ext cx="4663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CPU, Memory, Disk Usage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341985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986783"/>
            <a:ext cx="210312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79" y="3986783"/>
            <a:ext cx="466344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Requests Supported, Auto-scaling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19" y="3986783"/>
            <a:ext cx="1828800" cy="566928"/>
          </a:xfrm>
          <a:prstGeom prst="rect">
            <a:avLst/>
          </a:prstGeom>
          <a:solidFill>
            <a:srgbClr val="F3F5F8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E2328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188720"/>
            <a:ext cx="2423160" cy="3383280"/>
          </a:xfrm>
          <a:prstGeom prst="roundRect">
            <a:avLst/>
          </a:prstGeom>
          <a:solidFill>
            <a:srgbClr val="EFF4FC"/>
          </a:solidFill>
          <a:ln>
            <a:solidFill>
              <a:srgbClr val="28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41"/>
                </a:solidFill>
                <a:latin typeface="Aptos Display"/>
              </a:defRPr>
            </a:pPr>
            <a:r>
              <a:t>QI = w₁P + w₂R + w₃A + w₄E + w₅S</a:t>
            </a:r>
          </a:p>
          <a:p>
            <a:pPr algn="ctr">
              <a:defRPr sz="1100">
                <a:solidFill>
                  <a:srgbClr val="5C6674"/>
                </a:solidFill>
                <a:latin typeface="Aptos"/>
              </a:defRPr>
            </a:pPr>
            <a:br/>
            <a:r>
              <a:t>Weights: 30% / 25% / 20% / 15% / 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92040"/>
            <a:ext cx="1965960" cy="777240"/>
          </a:xfrm>
          <a:prstGeom prst="roundRect">
            <a:avLst/>
          </a:prstGeom>
          <a:solidFill>
            <a:srgbClr val="3E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90–100  Excellent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892040"/>
            <a:ext cx="1965960" cy="777240"/>
          </a:xfrm>
          <a:prstGeom prst="round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75–89  Good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4892040"/>
            <a:ext cx="1965960" cy="777240"/>
          </a:xfrm>
          <a:prstGeom prst="round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60–74  Fair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79" y="4892040"/>
            <a:ext cx="1965960" cy="777240"/>
          </a:xfrm>
          <a:prstGeom prst="roundRect">
            <a:avLst/>
          </a:prstGeom>
          <a:solidFill>
            <a:srgbClr val="CD6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40–59  Poor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4892040"/>
            <a:ext cx="1965960" cy="77724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0–39  Critical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Framework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Five lightweight modules transform telemetry into an operationally useful quality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1874519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1. Metric Collector</a:t>
            </a:r>
          </a:p>
          <a:p>
            <a:pPr>
              <a:spcBef>
                <a:spcPts val="500"/>
              </a:spcBef>
              <a:defRPr sz="1250">
                <a:solidFill>
                  <a:srgbClr val="1E2328"/>
                </a:solidFill>
                <a:latin typeface="Aptos"/>
              </a:defRPr>
            </a:pPr>
            <a:r>
              <a:t>Collect runtime metrics from microservices and observability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29000" cy="1874519"/>
          </a:xfrm>
          <a:prstGeom prst="roundRect">
            <a:avLst/>
          </a:prstGeom>
          <a:solidFill>
            <a:srgbClr val="EFF8F4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2. Metric Preprocessing</a:t>
            </a:r>
          </a:p>
          <a:p>
            <a:pPr>
              <a:spcBef>
                <a:spcPts val="500"/>
              </a:spcBef>
              <a:defRPr sz="1250">
                <a:solidFill>
                  <a:srgbClr val="1E2328"/>
                </a:solidFill>
                <a:latin typeface="Aptos"/>
              </a:defRPr>
            </a:pPr>
            <a:r>
              <a:t>Noise removal, normalization and missing-data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234440"/>
            <a:ext cx="3429000" cy="1874519"/>
          </a:xfrm>
          <a:prstGeom prst="roundRect">
            <a:avLst/>
          </a:prstGeom>
          <a:solidFill>
            <a:srgbClr val="FFF7E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3. Quality Analyzer</a:t>
            </a:r>
          </a:p>
          <a:p>
            <a:pPr>
              <a:spcBef>
                <a:spcPts val="500"/>
              </a:spcBef>
              <a:defRPr sz="1250">
                <a:solidFill>
                  <a:srgbClr val="1E2328"/>
                </a:solidFill>
                <a:latin typeface="Aptos"/>
              </a:defRPr>
            </a:pPr>
            <a:r>
              <a:t>Compute Performance, Reliability, Availability, Efficiency and Scalability scores.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74720"/>
            <a:ext cx="3429000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4. Quality Index Calculator</a:t>
            </a:r>
          </a:p>
          <a:p>
            <a:pPr>
              <a:spcBef>
                <a:spcPts val="500"/>
              </a:spcBef>
              <a:defRPr sz="1250">
                <a:solidFill>
                  <a:srgbClr val="1E2328"/>
                </a:solidFill>
                <a:latin typeface="Aptos"/>
              </a:defRPr>
            </a:pPr>
            <a:r>
              <a:t>Combine dimension scores into one weighted QI.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474720"/>
            <a:ext cx="3429000" cy="1874519"/>
          </a:xfrm>
          <a:prstGeom prst="roundRect">
            <a:avLst/>
          </a:prstGeom>
          <a:solidFill>
            <a:srgbClr val="F5F2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5. Recommendation Engine</a:t>
            </a:r>
          </a:p>
          <a:p>
            <a:pPr>
              <a:spcBef>
                <a:spcPts val="500"/>
              </a:spcBef>
              <a:defRPr sz="1250">
                <a:solidFill>
                  <a:srgbClr val="1E2328"/>
                </a:solidFill>
                <a:latin typeface="Aptos"/>
              </a:defRPr>
            </a:pPr>
            <a:r>
              <a:t>Translate degraded dimensions into suggested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80">
                <a:solidFill>
                  <a:srgbClr val="5C6674"/>
                </a:solidFill>
                <a:latin typeface="Aptos"/>
              </a:defRPr>
            </a:pPr>
            <a:r>
              <a:t>Examples: High CPU → scaling recommendation  |  High latency → caching / performance investigation  |  High error rate → circuit-breaker / dependency investigation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Experimental Setup &amp;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Prototype the framework, inject controlled load/failures, and test whether QI tracks real degradation.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4526280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Experimental Setup</a:t>
            </a:r>
          </a:p>
          <a:p>
            <a:pPr>
              <a:spcBef>
                <a:spcPts val="500"/>
              </a:spcBef>
              <a:defRPr sz="1400">
                <a:solidFill>
                  <a:srgbClr val="1E2328"/>
                </a:solidFill>
                <a:latin typeface="Aptos"/>
              </a:defRPr>
            </a:pPr>
            <a:r>
              <a:t>Backend: Java (Spring Boot) / Node.js</a:t>
            </a:r>
            <a:br/>
            <a:r>
              <a:t>Containers: Docker</a:t>
            </a:r>
            <a:br/>
            <a:r>
              <a:t>Orchestration: Kubernetes or Docker Compose</a:t>
            </a:r>
            <a:br/>
            <a:r>
              <a:t>Metrics: Prometheus</a:t>
            </a:r>
            <a:br/>
            <a:r>
              <a:t>Visualization: Grafana</a:t>
            </a:r>
            <a:br/>
            <a:r>
              <a:t>Load testing: JMeter / k6</a:t>
            </a:r>
            <a:br/>
            <a:r>
              <a:t>Database: PostgreSQL / MongoDB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394960" cy="4526280"/>
          </a:xfrm>
          <a:prstGeom prst="roundRect">
            <a:avLst/>
          </a:prstGeom>
          <a:solidFill>
            <a:srgbClr val="EFF8F4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3E965F"/>
                </a:solidFill>
                <a:latin typeface="Aptos"/>
              </a:defRPr>
            </a:pPr>
            <a:r>
              <a:t>Evaluation Plan</a:t>
            </a:r>
          </a:p>
          <a:p>
            <a:pPr>
              <a:spcBef>
                <a:spcPts val="500"/>
              </a:spcBef>
              <a:defRPr sz="1320">
                <a:solidFill>
                  <a:srgbClr val="1E2328"/>
                </a:solidFill>
                <a:latin typeface="Aptos"/>
              </a:defRPr>
            </a:pPr>
            <a:r>
              <a:t>Workload scenarios:</a:t>
            </a:r>
            <a:br/>
            <a:r>
              <a:t>• Low traffic</a:t>
            </a:r>
            <a:br/>
            <a:r>
              <a:t>• Medium traffic</a:t>
            </a:r>
            <a:br/>
            <a:r>
              <a:t>• Peak traffic</a:t>
            </a:r>
            <a:br/>
            <a:r>
              <a:t>• Failure injection</a:t>
            </a:r>
            <a:br/>
            <a:br/>
            <a:r>
              <a:t>Measure:</a:t>
            </a:r>
            <a:br/>
            <a:r>
              <a:t>• Response time / latency</a:t>
            </a:r>
            <a:br/>
            <a:r>
              <a:t>• CPU &amp; memory</a:t>
            </a:r>
            <a:br/>
            <a:r>
              <a:t>• Error rate</a:t>
            </a:r>
            <a:br/>
            <a:r>
              <a:t>• Throughput / availability</a:t>
            </a:r>
            <a:br/>
            <a:r>
              <a:t>• Composite QI</a:t>
            </a:r>
            <a:br/>
            <a:br/>
            <a:r>
              <a:t>Validation:</a:t>
            </a:r>
            <a:br/>
            <a:r>
              <a:t>Determine whether QI reflects degradation/improvement and compare the decision-making value of QI against traditional dashboard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1"/>
                </a:solidFill>
                <a:latin typeface="Aptos Display"/>
              </a:defRPr>
            </a:pPr>
            <a:r>
              <a:t>Plan of Work &amp; Expected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674"/>
                </a:solidFill>
                <a:latin typeface="Aptos"/>
              </a:defRPr>
            </a:pPr>
            <a:r>
              <a:t>Planned progression from design through prototype, experimentation and final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691640" cy="1417320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64BE"/>
                </a:solidFill>
                <a:latin typeface="Aptos"/>
              </a:defRPr>
            </a:pPr>
            <a:r>
              <a:t>Aug 1–15</a:t>
            </a:r>
          </a:p>
          <a:p>
            <a:pPr algn="ctr">
              <a:defRPr sz="950">
                <a:solidFill>
                  <a:srgbClr val="142341"/>
                </a:solidFill>
                <a:latin typeface="Aptos"/>
              </a:defRPr>
            </a:pPr>
            <a:r>
              <a:t>Literature Review &amp; Outline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1938528"/>
            <a:ext cx="210312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50592" y="1234440"/>
            <a:ext cx="1691640" cy="1417320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64BE"/>
                </a:solidFill>
                <a:latin typeface="Aptos"/>
              </a:defRPr>
            </a:pPr>
            <a:r>
              <a:t>Aug 16–30</a:t>
            </a:r>
          </a:p>
          <a:p>
            <a:pPr algn="ctr">
              <a:defRPr sz="950">
                <a:solidFill>
                  <a:srgbClr val="142341"/>
                </a:solidFill>
                <a:latin typeface="Aptos"/>
              </a:defRPr>
            </a:pPr>
            <a:r>
              <a:t>Framework &amp; QI Model 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42232" y="1938528"/>
            <a:ext cx="210312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52544" y="1234440"/>
            <a:ext cx="1691640" cy="1417320"/>
          </a:xfrm>
          <a:prstGeom prst="roundRect">
            <a:avLst/>
          </a:prstGeom>
          <a:solidFill>
            <a:srgbClr val="E8F1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64BE"/>
                </a:solidFill>
                <a:latin typeface="Aptos"/>
              </a:defRPr>
            </a:pPr>
            <a:r>
              <a:t>Sep 1–15</a:t>
            </a:r>
          </a:p>
          <a:p>
            <a:pPr algn="ctr">
              <a:defRPr sz="950">
                <a:solidFill>
                  <a:srgbClr val="142341"/>
                </a:solidFill>
                <a:latin typeface="Aptos"/>
              </a:defRPr>
            </a:pPr>
            <a:r>
              <a:t>Prototype Development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44183" y="1938528"/>
            <a:ext cx="210313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54496" y="1234440"/>
            <a:ext cx="1691640" cy="1417320"/>
          </a:xfrm>
          <a:prstGeom prst="roundRect">
            <a:avLst/>
          </a:prstGeom>
          <a:solidFill>
            <a:srgbClr val="EFF8F4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64BE"/>
                </a:solidFill>
                <a:latin typeface="Aptos"/>
              </a:defRPr>
            </a:pPr>
            <a:r>
              <a:t>Sep 15–Oct 4</a:t>
            </a:r>
          </a:p>
          <a:p>
            <a:pPr algn="ctr">
              <a:defRPr sz="950">
                <a:solidFill>
                  <a:srgbClr val="142341"/>
                </a:solidFill>
                <a:latin typeface="Aptos"/>
              </a:defRPr>
            </a:pPr>
            <a:r>
              <a:t>Experimentation &amp; 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46136" y="1938528"/>
            <a:ext cx="210312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56448" y="1234440"/>
            <a:ext cx="1691640" cy="1417320"/>
          </a:xfrm>
          <a:prstGeom prst="roundRect">
            <a:avLst/>
          </a:prstGeom>
          <a:solidFill>
            <a:srgbClr val="EFF8F4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64BE"/>
                </a:solidFill>
                <a:latin typeface="Aptos"/>
              </a:defRPr>
            </a:pPr>
            <a:r>
              <a:t>Oct 5–19</a:t>
            </a:r>
          </a:p>
          <a:p>
            <a:pPr algn="ctr">
              <a:defRPr sz="950">
                <a:solidFill>
                  <a:srgbClr val="142341"/>
                </a:solidFill>
                <a:latin typeface="Aptos"/>
              </a:defRPr>
            </a:pPr>
            <a:r>
              <a:t>Outline 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48088" y="1938528"/>
            <a:ext cx="210312" cy="0"/>
          </a:xfrm>
          <a:prstGeom prst="line">
            <a:avLst/>
          </a:prstGeom>
          <a:ln w="2286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0" y="1234440"/>
            <a:ext cx="1691640" cy="1417320"/>
          </a:xfrm>
          <a:prstGeom prst="roundRect">
            <a:avLst/>
          </a:prstGeom>
          <a:solidFill>
            <a:srgbClr val="EFF8F4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864BE"/>
                </a:solidFill>
                <a:latin typeface="Aptos"/>
              </a:defRPr>
            </a:pPr>
            <a:r>
              <a:t>Oct 20–Nov 5</a:t>
            </a:r>
          </a:p>
          <a:p>
            <a:pPr algn="ctr">
              <a:defRPr sz="950">
                <a:solidFill>
                  <a:srgbClr val="142341"/>
                </a:solidFill>
                <a:latin typeface="Aptos"/>
              </a:defRPr>
            </a:pPr>
            <a:r>
              <a:t>Final Compilation &amp; Submission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46120"/>
            <a:ext cx="10972800" cy="2057400"/>
          </a:xfrm>
          <a:prstGeom prst="roundRect">
            <a:avLst/>
          </a:prstGeom>
          <a:solidFill>
            <a:srgbClr val="F8FAFD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73152" rtlCol="0" anchor="ctr"/>
          <a:lstStyle/>
          <a:p>
            <a:pPr algn="ctr">
              <a:defRPr sz="1400" b="1">
                <a:solidFill>
                  <a:srgbClr val="142341"/>
                </a:solidFill>
                <a:latin typeface="Aptos"/>
              </a:defRPr>
            </a:pPr>
            <a:r>
              <a:t>Expected Contributions</a:t>
            </a:r>
          </a:p>
          <a:p>
            <a:pPr>
              <a:spcBef>
                <a:spcPts val="500"/>
              </a:spcBef>
              <a:defRPr sz="1400">
                <a:solidFill>
                  <a:srgbClr val="1E2328"/>
                </a:solidFill>
                <a:latin typeface="Aptos"/>
              </a:defRPr>
            </a:pPr>
            <a:r>
              <a:t>1. Lightweight runtime Quality Assessment Framework</a:t>
            </a:r>
            <a:br/>
            <a:r>
              <a:t>2. Quality Index (QI) model for microservice health</a:t>
            </a:r>
            <a:br/>
            <a:r>
              <a:t>3. Quality classification mechanism</a:t>
            </a:r>
            <a:br/>
            <a:r>
              <a:t>4. Recommendation component linking runtime issues to possible fixes</a:t>
            </a:r>
            <a:br/>
            <a:r>
              <a:t>5. Experimental validation under varying workloads and failure conditions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6756</Words>
  <Application>WPS Presentation</Application>
  <PresentationFormat>On-screen Show (4:3)</PresentationFormat>
  <Paragraphs>206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ganesh palve</cp:lastModifiedBy>
  <cp:revision>3</cp:revision>
  <dcterms:created xsi:type="dcterms:W3CDTF">2013-01-27T09:14:00Z</dcterms:created>
  <dcterms:modified xsi:type="dcterms:W3CDTF">2026-08-31T12:25:39Z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EFB1560A74E84B53A20F033E6950F17E_13</vt:lpwstr>
  </property>
  <property fmtid="{D5CDD505-2E9C-101B-9397-08002B2CF9AE}" pid="3" name="KSOProductBuildVer">
    <vt:lpwstr>1033-12.1.0.28032</vt:lpwstr>
  </property>
</Properties>
</file>